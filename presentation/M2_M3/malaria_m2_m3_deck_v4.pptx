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4213D"/>
                </a:solidFill>
                <a:latin typeface="Arial"/>
              </a:rPr>
              <a:t>Sensitivity by fold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95.31</c:v>
                </c:pt>
                <c:pt idx="1">
                  <c:v>88.28</c:v>
                </c:pt>
                <c:pt idx="2">
                  <c:v>96.38</c:v>
                </c:pt>
                <c:pt idx="3">
                  <c:v>95.52</c:v>
                </c:pt>
                <c:pt idx="4">
                  <c:v>95.71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COMPUTER VISION · M2 + M3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Patient-level evaluation of malaria parasite classification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1097280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approximate reproduction of Rajaraman et al., 2018, PeerJ 6:e4568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one evaluation change, predicted before it is coded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NIH / NLM thin-smear cells, 27,558 images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Udita (230082), then Aman Kumar (230064)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Rishihood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talk covers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874520" cy="23317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18745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160020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057400"/>
            <a:ext cx="1545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real; the mean-accuracy drop is small.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" y="32461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87752" y="1417320"/>
            <a:ext cx="1874520" cy="23317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87752" y="1417320"/>
            <a:ext cx="18745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52344" y="160020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752344" y="2057400"/>
            <a:ext cx="1545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Patient-grouped ResNet-50 baseline on the official NLM release.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52344" y="32461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52344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26864" y="1417320"/>
            <a:ext cx="1874520" cy="23317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26864" y="1417320"/>
            <a:ext cx="18745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160020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4791456" y="2057400"/>
            <a:ext cx="1545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and decision rule saved 3 Oct 2026, before any grouped analysis.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91456" y="32461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91456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65976" y="1417320"/>
            <a:ext cx="1874520" cy="23317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65976" y="1417320"/>
            <a:ext cx="187452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30568" y="160020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6830568" y="2057400"/>
            <a:ext cx="1545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Re-aggregate the saved predictions by Patient-ID.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30568" y="32461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30568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here is a verified protocol and an honest comparison, not a higher score.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claim we are testing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one segmented cell → Parasitized or Uninfected.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Same-source cells share stain, lighting, and focus.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pooled cell average can be carried by a few large groups.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reporting question on fixed predictions, not a new model.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840480" cy="29260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20574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leakage-free folds, does Patient-ID–macro sensitivity sit below pooled sensitivity?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M2 reproduced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8288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ResNet-50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1645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87752" y="1417320"/>
            <a:ext cx="18288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79192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 features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79192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backbone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16552" y="1645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26864" y="1417320"/>
            <a:ext cx="18288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18304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2048→512→1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18304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55664" y="1645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65976" y="1417320"/>
            <a:ext cx="18288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57416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75741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 = positive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2606040"/>
            <a:ext cx="3931920" cy="19202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606040"/>
            <a:ext cx="39319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" y="278892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" y="3154680"/>
            <a:ext cx="3602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224×224, ImageNet mean/std, no augmentation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classifier each fold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lr 0.01, momentum 0.9, L2 1e-4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epochs, seed 42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63440" y="2606040"/>
            <a:ext cx="3931920" cy="19202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2606040"/>
            <a:ext cx="393192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28032" y="278892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approximations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828032" y="3154680"/>
            <a:ext cx="3602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fold IDs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feature layer, classifier width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learning-rate search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tuned on the test fold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audit: PASS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1874520" cy="9144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27,558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PNGs (13,779 + 13,779)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87752" y="1325880"/>
            <a:ext cx="1874520" cy="9144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87752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2679192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Patient-IDs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26864" y="1325880"/>
            <a:ext cx="1874520" cy="9144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6864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with parasitized cells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65976" y="1325880"/>
            <a:ext cx="1874520" cy="9144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65976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757416" y="1856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uninfected-only IDs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46888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cell_images.zip; zero corrupt, unmapped, or cross-label duplicate images.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key: official NLM Patient-ID, not parsed from filenames.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 cells per ID: 1 to 633, median 33. Five IDs hold 2,933 of 13,779 (~21%).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 counts stay tight: 63–77 per ID.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Paper’s 150 infected + 50 healthy is the source census; we split on the official 201 keys and do not treat them as the same list.</a:t>
            </a:r>
            <a:endParaRPr lang="en-US" sz="1100" dirty="0"/>
          </a:p>
        </p:txBody>
      </p:sp>
      <p:pic>
        <p:nvPicPr>
          <p:cNvPr id="21" name="Image 1" descr="/home/claude/cou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468880"/>
            <a:ext cx="3840480" cy="2075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Patient-grouped folds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206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cells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overlap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029200" y="14173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StratifiedGroupKFold, seed 42, five folds; class balance preserved, groups intact.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our deterministic folds, not claimed as Rajaraman Table 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cell-level split (Table 6) was not rerun.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baseline (mean of five folds)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2743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mean ± 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93.90% ± 1.95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94.24% ± 3.36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93.56% ± 1.30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0.9832 ± 0.0086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93.90% ± 2.03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pic>
        <p:nvPicPr>
          <p:cNvPr id="9" name="Image 1" descr="/home/claude/ro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440" y="1325880"/>
            <a:ext cx="2606040" cy="2011680"/>
          </a:xfrm>
          <a:prstGeom prst="rect">
            <a:avLst/>
          </a:prstGeom>
        </p:spPr>
      </p:pic>
      <p:pic>
        <p:nvPicPr>
          <p:cNvPr id="10" name="Image 2" descr="/home/claude/c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325880"/>
            <a:ext cx="2377440" cy="20116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52044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ROC, pooled AUC 0.983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21792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confusion matrix, threshold 0.5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AUC is the mean of five fold AUCs; the pooled curve uses all 27,558 out-of-fold scores. Means are unweighted across folds. Measured on these Patient-ID folds; not a clinical-performance claim.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mean hides one fold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777240"/>
                <a:gridCol w="777240"/>
                <a:gridCol w="777240"/>
                <a:gridCol w="68580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5669280" y="1280160"/>
          <a:ext cx="3017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folds sit near 95–96% sensitivity; fold 2 is 88.28% with 325 false negatives.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SD 3.36 pp vs accuracy SD 1.95 pp: this motivates the M3 question, it does not answer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the paper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Table 6 (patient level)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−2.00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−3.64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reproduction: closest on sensitivity, lower on specificity.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causes: unpublished folds, feature layer, normalization, classifier width, hyperparameter search.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test-fold tuning was used to close the gap.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(saved before M4)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371600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920240" y="1417320"/>
            <a:ext cx="6675120" cy="5943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1417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out-of-fold rows are scored per official Patient-ID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167128"/>
            <a:ext cx="1371600" cy="594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920240" y="2167128"/>
            <a:ext cx="6675120" cy="5943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03120" y="21671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sensitivity will be lower than pooled sensitivity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16936"/>
            <a:ext cx="1371600" cy="5943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91693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920240" y="2916936"/>
            <a:ext cx="6675120" cy="5943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03120" y="291693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groups dominate a cell-weighted mean, so a hard small group can disappear inside it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</a:t>
            </a:r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− pooled sensitivity ≈ −1 to −3 pp, bounded by the measured 3.36 pp sensitivity SD. No weight, threshold, or label changes; pooled M2 numbers must stay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result will be called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number: mean of five paired differences (Patient-ID–macro sensitivity − pooled sensitivity).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5603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20240"/>
            <a:ext cx="25603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2103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51460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of 5 differences negative, and mean ≤ −1.68 pp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91840" y="1920240"/>
            <a:ext cx="25603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920240"/>
            <a:ext cx="256032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56432" y="2103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251460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of 5 positive, and mean ≥ +1.68 pp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920240"/>
            <a:ext cx="25603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920240"/>
            <a:ext cx="2560320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99632" y="2103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199632" y="251460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else, including a smaller negative mean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uses only IDs with at least one parasitized cell; IDs with none are counted, not dropped quietly.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specificity differences are secondary. AUC is not predicted to move.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M4, and what we will not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E4572E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CSA431 · M2 baseline + M3 pre-registered prediction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2560320" cy="31546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371600"/>
            <a:ext cx="256032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15544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1920240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saved manifest, folds, probabilities, 0.5 threshold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Patient-ID macro metrics and false-negative-rate spread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supported, unsupported, or inconclusive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560320" cy="31546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371600"/>
            <a:ext cx="256032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do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56432" y="1920240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backbone or loss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search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371600"/>
            <a:ext cx="2560320" cy="31546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1371600"/>
            <a:ext cx="2560320" cy="6400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99632" y="15544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199632" y="1920240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P. falciparum thin-smear 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cells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paper match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hospital 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diagnostic claim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Patient-level evaluation of malaria parasite classification</dc:title>
  <dc:subject>PptxGenJS Presentation</dc:subject>
  <dc:creator>PptxGenJS</dc:creator>
  <cp:lastModifiedBy>PptxGenJS</cp:lastModifiedBy>
  <cp:revision>1</cp:revision>
  <dcterms:created xsi:type="dcterms:W3CDTF">2026-10-04T17:58:22Z</dcterms:created>
  <dcterms:modified xsi:type="dcterms:W3CDTF">2026-10-04T17:58:22Z</dcterms:modified>
</cp:coreProperties>
</file>